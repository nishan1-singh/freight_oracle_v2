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315787"/>
    <a:srgbClr val="576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5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1578D"/>
            </a:solidFill>
            <a:ln>
              <a:solidFill>
                <a:srgbClr val="21578D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Freight cost ↓</c:v>
                </c:pt>
                <c:pt idx="1">
                  <c:v>Demurrage ↓</c:v>
                </c:pt>
                <c:pt idx="2">
                  <c:v>Forecast error ↓</c:v>
                </c:pt>
                <c:pt idx="3">
                  <c:v>CO₂ intensity 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1578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FE5-49C5-BF33-CE47770014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"/>
          <c:min val="0"/>
        </c:scaling>
        <c:delete val="1"/>
        <c:axPos val="b"/>
        <c:title>
          <c:tx>
            <c:rich>
              <a:bodyPr/>
              <a:lstStyle/>
              <a:p>
                <a:r>
                  <a:rPr lang="en-US"/>
                  <a:t>Improvement target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1578D"/>
            </a:solidFill>
            <a:ln>
              <a:solidFill>
                <a:srgbClr val="21578D"/>
              </a:solidFill>
            </a:ln>
          </c:spP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Freight savings</c:v>
                </c:pt>
                <c:pt idx="1">
                  <c:v>Demurrage</c:v>
                </c:pt>
                <c:pt idx="2">
                  <c:v>Forecast accuracy</c:v>
                </c:pt>
                <c:pt idx="3">
                  <c:v>Emissions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A-484E-A9FA-7EBC54CF54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1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1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Replace the four TO BE ADDED fields before submission.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H template slide 1" descr="Official SIH template sli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surface"/>
          <p:cNvSpPr/>
          <p:nvPr/>
        </p:nvSpPr>
        <p:spPr>
          <a:xfrm>
            <a:off x="266700" y="1143000"/>
            <a:ext cx="6191250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surface"/>
          <p:cNvSpPr/>
          <p:nvPr/>
        </p:nvSpPr>
        <p:spPr>
          <a:xfrm>
            <a:off x="5905500" y="1143000"/>
            <a:ext cx="1143000" cy="1047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6250" y="1381125"/>
            <a:ext cx="5762625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 dirty="0">
                <a:solidFill>
                  <a:srgbClr val="21578D"/>
                </a:solidFill>
                <a:latin typeface="Montserrat"/>
              </a:rPr>
              <a:t>INTELLIGENT FREIGHT FORECASTING
FOR OPTIMIZED VESSEL CHARTERING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333625"/>
            <a:ext cx="54292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536272"/>
                </a:solidFill>
                <a:latin typeface="Lato"/>
              </a:rPr>
              <a:t>Bulk cargo procurement from overseas to the East Coast of India</a:t>
            </a:r>
          </a:p>
        </p:txBody>
      </p:sp>
      <p:cxnSp>
        <p:nvCxnSpPr>
          <p:cNvPr id="7" name="Divider"/>
          <p:cNvCxnSpPr/>
          <p:nvPr/>
        </p:nvCxnSpPr>
        <p:spPr>
          <a:xfrm>
            <a:off x="514350" y="2924175"/>
            <a:ext cx="5295900" cy="0"/>
          </a:xfrm>
          <a:prstGeom prst="line">
            <a:avLst/>
          </a:prstGeom>
          <a:ln w="47625">
            <a:solidFill>
              <a:srgbClr val="E96B22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4350" y="3143250"/>
            <a:ext cx="16668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Problem Statement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0750" y="31432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dirty="0" smtClean="0">
                <a:solidFill>
                  <a:srgbClr val="18212B"/>
                </a:solidFill>
                <a:latin typeface="Lato"/>
              </a:rPr>
              <a:t>SIH26006</a:t>
            </a:r>
            <a:endParaRPr sz="1275" b="0" i="0" u="none" dirty="0">
              <a:solidFill>
                <a:srgbClr val="18212B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350" y="3505200"/>
            <a:ext cx="16668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5052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8212B"/>
                </a:solidFill>
                <a:latin typeface="Lato"/>
              </a:rPr>
              <a:t>Transportation &amp; Logistics*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3867150"/>
            <a:ext cx="16668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PS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0750" y="38671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8212B"/>
                </a:solidFill>
                <a:latin typeface="Lato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4229100"/>
            <a:ext cx="16668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Team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2291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 i="0" u="none" dirty="0" smtClean="0">
                <a:solidFill>
                  <a:srgbClr val="18212B"/>
                </a:solidFill>
                <a:latin typeface="Lato"/>
              </a:rPr>
              <a:t>160555</a:t>
            </a:r>
            <a:endParaRPr sz="1275" b="0" i="0" u="none" dirty="0">
              <a:solidFill>
                <a:srgbClr val="18212B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4350" y="4591050"/>
            <a:ext cx="16668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Team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45910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 i="0" u="none" dirty="0" smtClean="0">
                <a:solidFill>
                  <a:srgbClr val="18212B"/>
                </a:solidFill>
                <a:latin typeface="Lato"/>
              </a:rPr>
              <a:t>NUL POINTERS</a:t>
            </a:r>
            <a:endParaRPr sz="1275" b="0" i="0" u="none" dirty="0">
              <a:solidFill>
                <a:srgbClr val="18212B"/>
              </a:solidFill>
              <a:latin typeface="Lato"/>
            </a:endParaRPr>
          </a:p>
        </p:txBody>
      </p:sp>
      <p:sp>
        <p:nvSpPr>
          <p:cNvPr id="19" name="Information panel"/>
          <p:cNvSpPr/>
          <p:nvPr/>
        </p:nvSpPr>
        <p:spPr>
          <a:xfrm>
            <a:off x="514350" y="5372100"/>
            <a:ext cx="4762500" cy="571500"/>
          </a:xfrm>
          <a:prstGeom prst="rect">
            <a:avLst/>
          </a:prstGeom>
          <a:solidFill>
            <a:srgbClr val="EAF3FA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46735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21578D"/>
                </a:solidFill>
                <a:latin typeface="Montserrat"/>
              </a:rPr>
              <a:t>PROJECT CODENAME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5985" y="5495924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890"/>
              </a:lnSpc>
            </a:pPr>
            <a:r>
              <a:rPr lang="en-US" sz="1800" b="1" i="0" u="none" dirty="0" smtClean="0">
                <a:solidFill>
                  <a:srgbClr val="18212B"/>
                </a:solidFill>
                <a:latin typeface="Montserrat"/>
              </a:rPr>
              <a:t>FREIGHT ORACLE</a:t>
            </a:r>
            <a:endParaRPr sz="1800" b="1" i="0" u="none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043139" y="729760"/>
            <a:ext cx="844061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1078309" y="687088"/>
            <a:ext cx="84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576B74"/>
                </a:solidFill>
                <a:latin typeface="Arial Black" panose="020B0A04020102020204" pitchFamily="34" charset="0"/>
              </a:rPr>
              <a:t>2026</a:t>
            </a:r>
            <a:endParaRPr lang="en-US" b="1" dirty="0">
              <a:solidFill>
                <a:srgbClr val="576B74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85200" y="254000"/>
            <a:ext cx="955040" cy="5486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484264" y="159631"/>
            <a:ext cx="153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315787"/>
                </a:solidFill>
                <a:latin typeface="Bookman Old Style" panose="02050604050505020204" pitchFamily="18" charset="0"/>
                <a:ea typeface="MingLiU_HKSCS-ExtB" panose="02020500000000000000" pitchFamily="18" charset="-120"/>
              </a:rPr>
              <a:t>2026</a:t>
            </a:r>
            <a:endParaRPr lang="en-US" sz="3200" b="1" dirty="0">
              <a:solidFill>
                <a:srgbClr val="315787"/>
              </a:solidFill>
              <a:latin typeface="Bookman Old Style" panose="02050604050505020204" pitchFamily="18" charset="0"/>
              <a:ea typeface="MingLiU_HKSCS-ExtB" panose="02020500000000000000" pitchFamily="18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H template slide 2" descr="Official SIH template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am name badge"/>
          <p:cNvSpPr/>
          <p:nvPr/>
        </p:nvSpPr>
        <p:spPr>
          <a:xfrm>
            <a:off x="323850" y="247649"/>
            <a:ext cx="12954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9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150" y="34290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dirty="0" smtClean="0">
                <a:solidFill>
                  <a:srgbClr val="18212B"/>
                </a:solidFill>
                <a:latin typeface="Montserrat"/>
              </a:rPr>
              <a:t>NUL POINTERS</a:t>
            </a:r>
            <a:endParaRPr sz="1200" b="1" i="0" u="none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5" name="Title cover"/>
          <p:cNvSpPr/>
          <p:nvPr/>
        </p:nvSpPr>
        <p:spPr>
          <a:xfrm>
            <a:off x="1714500" y="247649"/>
            <a:ext cx="8096249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heading"/>
          <p:cNvSpPr txBox="1"/>
          <p:nvPr/>
        </p:nvSpPr>
        <p:spPr>
          <a:xfrm>
            <a:off x="2276475" y="438149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25" b="1" dirty="0">
                <a:solidFill>
                  <a:srgbClr val="18212B"/>
                </a:solidFill>
                <a:latin typeface="Montserrat"/>
              </a:rPr>
              <a:t>INTELLIGENT FREIGHT FORECASTINGFOR OPTIMIZED VESSEL CHARTERING</a:t>
            </a:r>
            <a:endParaRPr lang="en-US" sz="2625" b="1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7" name="Content surface"/>
          <p:cNvSpPr/>
          <p:nvPr/>
        </p:nvSpPr>
        <p:spPr>
          <a:xfrm>
            <a:off x="76200" y="1762125"/>
            <a:ext cx="12039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66899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1578D"/>
                </a:solidFill>
                <a:latin typeface="Montserrat"/>
              </a:rPr>
              <a:t>HOW THE SOLUTION ADDRESSES THE PROBLEM</a:t>
            </a:r>
          </a:p>
        </p:txBody>
      </p:sp>
      <p:pic>
        <p:nvPicPr>
          <p:cNvPr id="9" name="Paradip Port bulk carriers" descr="Bulk carriers berthed at Paradip Port, India"/>
          <p:cNvPicPr>
            <a:picLocks noChangeAspect="1"/>
          </p:cNvPicPr>
          <p:nvPr/>
        </p:nvPicPr>
        <p:blipFill>
          <a:blip r:embed="rId3"/>
          <a:srcRect t="12472" b="12472"/>
          <a:stretch>
            <a:fillRect/>
          </a:stretch>
        </p:blipFill>
        <p:spPr>
          <a:xfrm>
            <a:off x="685800" y="2324100"/>
            <a:ext cx="3028950" cy="3067050"/>
          </a:xfrm>
          <a:prstGeom prst="rect">
            <a:avLst/>
          </a:prstGeom>
        </p:spPr>
      </p:pic>
      <p:sp>
        <p:nvSpPr>
          <p:cNvPr id="10" name="Image caption band"/>
          <p:cNvSpPr/>
          <p:nvPr/>
        </p:nvSpPr>
        <p:spPr>
          <a:xfrm>
            <a:off x="685800" y="4762500"/>
            <a:ext cx="3028950" cy="628650"/>
          </a:xfrm>
          <a:prstGeom prst="rect">
            <a:avLst/>
          </a:prstGeom>
          <a:solidFill>
            <a:srgbClr val="163D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200" y="4829175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FFFFFF"/>
                </a:solidFill>
                <a:latin typeface="Montserrat"/>
              </a:rPr>
              <a:t>OVERSEAS BULK → EAST COAST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048250"/>
            <a:ext cx="2724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DDEAF5"/>
                </a:solidFill>
                <a:latin typeface="Lato"/>
              </a:rPr>
              <a:t>Real-world chartering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0" y="2324100"/>
            <a:ext cx="7429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168A57"/>
                </a:solidFill>
                <a:latin typeface="Montserrat"/>
              </a:rPr>
              <a:t>ONE CLOSED-LOOP DECISION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0" y="2647950"/>
            <a:ext cx="7429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8212B"/>
                </a:solidFill>
                <a:latin typeface="Montserrat"/>
              </a:rPr>
              <a:t>Turns fragmented market signals into a risk-aware charter recommendation—with the planner retaining final approval.</a:t>
            </a:r>
          </a:p>
        </p:txBody>
      </p:sp>
      <p:sp>
        <p:nvSpPr>
          <p:cNvPr id="15" name="Information panel"/>
          <p:cNvSpPr/>
          <p:nvPr/>
        </p:nvSpPr>
        <p:spPr>
          <a:xfrm>
            <a:off x="4095750" y="3333750"/>
            <a:ext cx="1600200" cy="87630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48150" y="342900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E96B22"/>
                </a:solidFill>
                <a:latin typeface="Montserrat"/>
              </a:rPr>
              <a:t>1  SENSE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8150" y="3714750"/>
            <a:ext cx="12954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AIS • rates • ports
weather • prices</a:t>
            </a:r>
          </a:p>
        </p:txBody>
      </p:sp>
      <p:cxnSp>
        <p:nvCxnSpPr>
          <p:cNvPr id="18" name="Flow connector"/>
          <p:cNvCxnSpPr/>
          <p:nvPr/>
        </p:nvCxnSpPr>
        <p:spPr>
          <a:xfrm>
            <a:off x="5715000" y="3771900"/>
            <a:ext cx="266700" cy="0"/>
          </a:xfrm>
          <a:prstGeom prst="line">
            <a:avLst/>
          </a:prstGeom>
          <a:ln w="19050">
            <a:solidFill>
              <a:srgbClr val="21578D"/>
            </a:solidFill>
            <a:tailEnd type="triangle"/>
          </a:ln>
        </p:spPr>
      </p:cxnSp>
      <p:sp>
        <p:nvSpPr>
          <p:cNvPr id="19" name="Information panel"/>
          <p:cNvSpPr/>
          <p:nvPr/>
        </p:nvSpPr>
        <p:spPr>
          <a:xfrm>
            <a:off x="6019800" y="3333750"/>
            <a:ext cx="1600200" cy="876300"/>
          </a:xfrm>
          <a:prstGeom prst="rect">
            <a:avLst/>
          </a:prstGeom>
          <a:solidFill>
            <a:srgbClr val="EAF3FA"/>
          </a:solidFill>
          <a:ln w="9525">
            <a:solidFill>
              <a:srgbClr val="8DB9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42900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21578D"/>
                </a:solidFill>
                <a:latin typeface="Montserrat"/>
              </a:rPr>
              <a:t>2  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714750"/>
            <a:ext cx="12954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P10 / P50 / P90
1–12 week horizon</a:t>
            </a:r>
          </a:p>
        </p:txBody>
      </p:sp>
      <p:cxnSp>
        <p:nvCxnSpPr>
          <p:cNvPr id="22" name="Flow connector"/>
          <p:cNvCxnSpPr/>
          <p:nvPr/>
        </p:nvCxnSpPr>
        <p:spPr>
          <a:xfrm>
            <a:off x="7639049" y="3771900"/>
            <a:ext cx="266701" cy="0"/>
          </a:xfrm>
          <a:prstGeom prst="line">
            <a:avLst/>
          </a:prstGeom>
          <a:ln w="19050">
            <a:solidFill>
              <a:srgbClr val="21578D"/>
            </a:solidFill>
            <a:tailEnd type="triangle"/>
          </a:ln>
        </p:spPr>
      </p:cxnSp>
      <p:sp>
        <p:nvSpPr>
          <p:cNvPr id="23" name="Information panel"/>
          <p:cNvSpPr/>
          <p:nvPr/>
        </p:nvSpPr>
        <p:spPr>
          <a:xfrm>
            <a:off x="7943850" y="3333750"/>
            <a:ext cx="1600200" cy="876300"/>
          </a:xfrm>
          <a:prstGeom prst="rect">
            <a:avLst/>
          </a:prstGeom>
          <a:solidFill>
            <a:srgbClr val="F1F8F4"/>
          </a:solidFill>
          <a:ln w="9525">
            <a:solidFill>
              <a:srgbClr val="A8D4B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6249" y="3429000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68A57"/>
                </a:solidFill>
                <a:latin typeface="Montserrat"/>
              </a:rPr>
              <a:t>3  OPTIMIZE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49" y="3714750"/>
            <a:ext cx="12954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vessel • laycan
route • cargo lot</a:t>
            </a:r>
          </a:p>
        </p:txBody>
      </p:sp>
      <p:cxnSp>
        <p:nvCxnSpPr>
          <p:cNvPr id="26" name="Flow connector"/>
          <p:cNvCxnSpPr/>
          <p:nvPr/>
        </p:nvCxnSpPr>
        <p:spPr>
          <a:xfrm>
            <a:off x="9563100" y="3771900"/>
            <a:ext cx="266700" cy="0"/>
          </a:xfrm>
          <a:prstGeom prst="line">
            <a:avLst/>
          </a:prstGeom>
          <a:ln w="19050">
            <a:solidFill>
              <a:srgbClr val="21578D"/>
            </a:solidFill>
            <a:tailEnd type="triangle"/>
          </a:ln>
        </p:spPr>
      </p:cxnSp>
      <p:sp>
        <p:nvSpPr>
          <p:cNvPr id="27" name="Information panel"/>
          <p:cNvSpPr/>
          <p:nvPr/>
        </p:nvSpPr>
        <p:spPr>
          <a:xfrm>
            <a:off x="9867900" y="3333750"/>
            <a:ext cx="1657350" cy="87630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01250" y="3429000"/>
            <a:ext cx="13906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80649A"/>
                </a:solidFill>
                <a:latin typeface="Montserrat"/>
              </a:rPr>
              <a:t>4  ACT + 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0" y="3714750"/>
            <a:ext cx="13906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rank • explain
approve • retrain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0" y="44577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1578D"/>
                </a:solidFill>
                <a:latin typeface="Montserrat"/>
              </a:rPr>
              <a:t>GAP →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0" y="4791075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8212B"/>
                </a:solidFill>
                <a:latin typeface="Montserrat"/>
              </a:rPr>
              <a:t>Fragmented inputs</a:t>
            </a:r>
          </a:p>
        </p:txBody>
      </p:sp>
      <p:cxnSp>
        <p:nvCxnSpPr>
          <p:cNvPr id="32" name="Flow connector"/>
          <p:cNvCxnSpPr/>
          <p:nvPr/>
        </p:nvCxnSpPr>
        <p:spPr>
          <a:xfrm>
            <a:off x="5953125" y="4895850"/>
            <a:ext cx="476250" cy="0"/>
          </a:xfrm>
          <a:prstGeom prst="line">
            <a:avLst/>
          </a:prstGeom>
          <a:ln w="19050">
            <a:solidFill>
              <a:srgbClr val="E96B22"/>
            </a:solidFill>
            <a:tailEnd type="triangle"/>
          </a:ln>
        </p:spPr>
      </p:cxnSp>
      <p:sp>
        <p:nvSpPr>
          <p:cNvPr id="33" name="TextBox 32"/>
          <p:cNvSpPr txBox="1"/>
          <p:nvPr/>
        </p:nvSpPr>
        <p:spPr>
          <a:xfrm>
            <a:off x="6515100" y="47910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68A57"/>
                </a:solidFill>
                <a:latin typeface="Montserrat"/>
              </a:rPr>
              <a:t>Unified signal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0" y="5095875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8212B"/>
                </a:solidFill>
                <a:latin typeface="Montserrat"/>
              </a:rPr>
              <a:t>Uncertain freight timing</a:t>
            </a:r>
          </a:p>
        </p:txBody>
      </p:sp>
      <p:cxnSp>
        <p:nvCxnSpPr>
          <p:cNvPr id="35" name="Flow connector"/>
          <p:cNvCxnSpPr/>
          <p:nvPr/>
        </p:nvCxnSpPr>
        <p:spPr>
          <a:xfrm>
            <a:off x="5953125" y="5200650"/>
            <a:ext cx="476250" cy="0"/>
          </a:xfrm>
          <a:prstGeom prst="line">
            <a:avLst/>
          </a:prstGeom>
          <a:ln w="19050">
            <a:solidFill>
              <a:srgbClr val="E96B22"/>
            </a:solidFill>
            <a:tailEnd type="triangle"/>
          </a:ln>
        </p:spPr>
      </p:cxnSp>
      <p:sp>
        <p:nvSpPr>
          <p:cNvPr id="36" name="TextBox 35"/>
          <p:cNvSpPr txBox="1"/>
          <p:nvPr/>
        </p:nvSpPr>
        <p:spPr>
          <a:xfrm>
            <a:off x="6515100" y="5095875"/>
            <a:ext cx="23336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68A57"/>
                </a:solidFill>
                <a:latin typeface="Montserrat"/>
              </a:rPr>
              <a:t>Probabilistic forecast bands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5750" y="5400675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8212B"/>
                </a:solidFill>
                <a:latin typeface="Montserrat"/>
              </a:rPr>
              <a:t>Siloed charter choices</a:t>
            </a:r>
          </a:p>
        </p:txBody>
      </p:sp>
      <p:cxnSp>
        <p:nvCxnSpPr>
          <p:cNvPr id="38" name="Flow connector"/>
          <p:cNvCxnSpPr/>
          <p:nvPr/>
        </p:nvCxnSpPr>
        <p:spPr>
          <a:xfrm>
            <a:off x="5953125" y="5505450"/>
            <a:ext cx="476250" cy="0"/>
          </a:xfrm>
          <a:prstGeom prst="line">
            <a:avLst/>
          </a:prstGeom>
          <a:ln w="19050">
            <a:solidFill>
              <a:srgbClr val="E96B22"/>
            </a:solidFill>
            <a:tailEnd type="triangle"/>
          </a:ln>
        </p:spPr>
      </p:cxnSp>
      <p:sp>
        <p:nvSpPr>
          <p:cNvPr id="39" name="TextBox 38"/>
          <p:cNvSpPr txBox="1"/>
          <p:nvPr/>
        </p:nvSpPr>
        <p:spPr>
          <a:xfrm>
            <a:off x="6515100" y="540067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68A57"/>
                </a:solidFill>
                <a:latin typeface="Montserrat"/>
              </a:rPr>
              <a:t>Landed-cost optimizer</a:t>
            </a:r>
          </a:p>
        </p:txBody>
      </p:sp>
      <p:sp>
        <p:nvSpPr>
          <p:cNvPr id="40" name="Information panel"/>
          <p:cNvSpPr/>
          <p:nvPr/>
        </p:nvSpPr>
        <p:spPr>
          <a:xfrm>
            <a:off x="9001125" y="4591050"/>
            <a:ext cx="2524125" cy="1104900"/>
          </a:xfrm>
          <a:prstGeom prst="rect">
            <a:avLst/>
          </a:prstGeom>
          <a:solidFill>
            <a:srgbClr val="FFF7EF"/>
          </a:solidFill>
          <a:ln w="9525">
            <a:solidFill>
              <a:srgbClr val="F2BE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72575" y="4695825"/>
            <a:ext cx="21812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E96B22"/>
                </a:solidFill>
                <a:latin typeface="Montserrat"/>
              </a:rPr>
              <a:t>WHY IT IS NOVEL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2575" y="4981575"/>
            <a:ext cx="218122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8212B"/>
                </a:solidFill>
                <a:latin typeface="Montserrat"/>
              </a:rPr>
              <a:t>Forecast + procurement + charter optimization in one explainable feedback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38800"/>
            <a:ext cx="30289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36272"/>
                </a:solidFill>
                <a:latin typeface="Lato"/>
              </a:rPr>
              <a:t>Visual: Paradip Port, Wikimedia Commons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43139" y="764928"/>
            <a:ext cx="844061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11078309" y="711472"/>
            <a:ext cx="84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576B74"/>
                </a:solidFill>
                <a:latin typeface="Arial Black" panose="020B0A04020102020204" pitchFamily="34" charset="0"/>
              </a:rPr>
              <a:t>2026</a:t>
            </a:r>
            <a:endParaRPr lang="en-US" b="1" dirty="0">
              <a:solidFill>
                <a:srgbClr val="576B74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610936" y="6438899"/>
            <a:ext cx="856664" cy="246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H template slide 3" descr="Official SIH template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am name badge"/>
          <p:cNvSpPr/>
          <p:nvPr/>
        </p:nvSpPr>
        <p:spPr>
          <a:xfrm>
            <a:off x="323850" y="247649"/>
            <a:ext cx="12954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9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4526" y="34290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18212B"/>
                </a:solidFill>
                <a:latin typeface="Montserrat"/>
              </a:rPr>
              <a:t>NUL POINTERS</a:t>
            </a:r>
            <a:endParaRPr lang="en-US" sz="1200" b="1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5" name="Title cover"/>
          <p:cNvSpPr/>
          <p:nvPr/>
        </p:nvSpPr>
        <p:spPr>
          <a:xfrm>
            <a:off x="1714500" y="247649"/>
            <a:ext cx="8096249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heading"/>
          <p:cNvSpPr txBox="1"/>
          <p:nvPr/>
        </p:nvSpPr>
        <p:spPr>
          <a:xfrm>
            <a:off x="1952624" y="419100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 u="none">
                <a:solidFill>
                  <a:srgbClr val="18212B"/>
                </a:solidFill>
                <a:latin typeface="Montserrat"/>
              </a:rPr>
              <a:t>TECHNICAL APPROACH</a:t>
            </a:r>
          </a:p>
        </p:txBody>
      </p:sp>
      <p:sp>
        <p:nvSpPr>
          <p:cNvPr id="7" name="Content surface"/>
          <p:cNvSpPr/>
          <p:nvPr/>
        </p:nvSpPr>
        <p:spPr>
          <a:xfrm>
            <a:off x="76200" y="1762125"/>
            <a:ext cx="12039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Visakhapatnam Port panorama" descr="Panorama of Visakhapatnam Port on the East Coast of India"/>
          <p:cNvPicPr>
            <a:picLocks noChangeAspect="1"/>
          </p:cNvPicPr>
          <p:nvPr/>
        </p:nvPicPr>
        <p:blipFill>
          <a:blip r:embed="rId3"/>
          <a:srcRect t="26642" b="26642"/>
          <a:stretch>
            <a:fillRect/>
          </a:stretch>
        </p:blipFill>
        <p:spPr>
          <a:xfrm>
            <a:off x="685800" y="1857375"/>
            <a:ext cx="10839450" cy="1333500"/>
          </a:xfrm>
          <a:prstGeom prst="rect">
            <a:avLst/>
          </a:prstGeom>
        </p:spPr>
      </p:pic>
      <p:sp>
        <p:nvSpPr>
          <p:cNvPr id="9" name="Method overlay"/>
          <p:cNvSpPr/>
          <p:nvPr/>
        </p:nvSpPr>
        <p:spPr>
          <a:xfrm>
            <a:off x="685800" y="2714625"/>
            <a:ext cx="10839450" cy="476250"/>
          </a:xfrm>
          <a:prstGeom prst="rect">
            <a:avLst/>
          </a:prstGeom>
          <a:solidFill>
            <a:srgbClr val="163D6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6300" y="2800350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Montserrat"/>
              </a:rPr>
              <a:t>METHODOLOGY  |  SIGNAL → FORECAST → OPTIMIZE → DECIDE → LEARN</a:t>
            </a:r>
          </a:p>
        </p:txBody>
      </p:sp>
      <p:sp>
        <p:nvSpPr>
          <p:cNvPr id="11" name="Information panel"/>
          <p:cNvSpPr/>
          <p:nvPr/>
        </p:nvSpPr>
        <p:spPr>
          <a:xfrm>
            <a:off x="685800" y="3448050"/>
            <a:ext cx="2305050" cy="142875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250" y="3571875"/>
            <a:ext cx="19621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E96B22"/>
                </a:solidFill>
                <a:latin typeface="Montserrat"/>
              </a:rPr>
              <a:t>01  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905249"/>
            <a:ext cx="19621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8212B"/>
                </a:solidFill>
                <a:latin typeface="Lato"/>
              </a:rPr>
              <a:t>AIS + fixtures
Port queues + weather
Commodity + FX + bunker
Procurement history</a:t>
            </a:r>
          </a:p>
        </p:txBody>
      </p:sp>
      <p:cxnSp>
        <p:nvCxnSpPr>
          <p:cNvPr id="14" name="Flow connector"/>
          <p:cNvCxnSpPr/>
          <p:nvPr/>
        </p:nvCxnSpPr>
        <p:spPr>
          <a:xfrm>
            <a:off x="3019425" y="4143375"/>
            <a:ext cx="342900" cy="0"/>
          </a:xfrm>
          <a:prstGeom prst="line">
            <a:avLst/>
          </a:prstGeom>
          <a:ln w="19050">
            <a:solidFill>
              <a:srgbClr val="21578D"/>
            </a:solidFill>
            <a:tailEnd type="triangle"/>
          </a:ln>
        </p:spPr>
      </p:cxnSp>
      <p:sp>
        <p:nvSpPr>
          <p:cNvPr id="15" name="Information panel"/>
          <p:cNvSpPr/>
          <p:nvPr/>
        </p:nvSpPr>
        <p:spPr>
          <a:xfrm>
            <a:off x="3400425" y="3448050"/>
            <a:ext cx="2305050" cy="1428750"/>
          </a:xfrm>
          <a:prstGeom prst="rect">
            <a:avLst/>
          </a:prstGeom>
          <a:solidFill>
            <a:srgbClr val="EAF3FA"/>
          </a:solidFill>
          <a:ln w="9525">
            <a:solidFill>
              <a:srgbClr val="8DB9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1875" y="3571875"/>
            <a:ext cx="19621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21578D"/>
                </a:solidFill>
                <a:latin typeface="Montserrat"/>
              </a:rPr>
              <a:t>02  FORECAST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875" y="3905249"/>
            <a:ext cx="19621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8212B"/>
                </a:solidFill>
                <a:latin typeface="Lato"/>
              </a:rPr>
              <a:t>TFT + XGBoost ensemble
Walk-forward validation
P10 / P50 / P90
1–12 week horizon</a:t>
            </a:r>
          </a:p>
        </p:txBody>
      </p:sp>
      <p:cxnSp>
        <p:nvCxnSpPr>
          <p:cNvPr id="18" name="Flow connector"/>
          <p:cNvCxnSpPr/>
          <p:nvPr/>
        </p:nvCxnSpPr>
        <p:spPr>
          <a:xfrm>
            <a:off x="5734050" y="4143375"/>
            <a:ext cx="342900" cy="0"/>
          </a:xfrm>
          <a:prstGeom prst="line">
            <a:avLst/>
          </a:prstGeom>
          <a:ln w="19050">
            <a:solidFill>
              <a:srgbClr val="21578D"/>
            </a:solidFill>
            <a:tailEnd type="triangle"/>
          </a:ln>
        </p:spPr>
      </p:cxnSp>
      <p:sp>
        <p:nvSpPr>
          <p:cNvPr id="19" name="Information panel"/>
          <p:cNvSpPr/>
          <p:nvPr/>
        </p:nvSpPr>
        <p:spPr>
          <a:xfrm>
            <a:off x="6115050" y="3448050"/>
            <a:ext cx="2305050" cy="1428750"/>
          </a:xfrm>
          <a:prstGeom prst="rect">
            <a:avLst/>
          </a:prstGeom>
          <a:solidFill>
            <a:srgbClr val="F1F8F4"/>
          </a:solidFill>
          <a:ln w="9525">
            <a:solidFill>
              <a:srgbClr val="A8D4B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6500" y="3571875"/>
            <a:ext cx="19621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68A57"/>
                </a:solidFill>
                <a:latin typeface="Montserrat"/>
              </a:rPr>
              <a:t>03  STOCHASTIC MILP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905249"/>
            <a:ext cx="19621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8212B"/>
                </a:solidFill>
                <a:latin typeface="Lato"/>
              </a:rPr>
              <a:t>Minimize landed cost + risk
Laycan • draft • vessel class
Route • cargo lot • stock cover</a:t>
            </a:r>
          </a:p>
        </p:txBody>
      </p:sp>
      <p:cxnSp>
        <p:nvCxnSpPr>
          <p:cNvPr id="22" name="Flow connector"/>
          <p:cNvCxnSpPr/>
          <p:nvPr/>
        </p:nvCxnSpPr>
        <p:spPr>
          <a:xfrm>
            <a:off x="8448675" y="4143375"/>
            <a:ext cx="342900" cy="0"/>
          </a:xfrm>
          <a:prstGeom prst="line">
            <a:avLst/>
          </a:prstGeom>
          <a:ln w="19050">
            <a:solidFill>
              <a:srgbClr val="21578D"/>
            </a:solidFill>
            <a:tailEnd type="triangle"/>
          </a:ln>
        </p:spPr>
      </p:cxnSp>
      <p:sp>
        <p:nvSpPr>
          <p:cNvPr id="23" name="Information panel"/>
          <p:cNvSpPr/>
          <p:nvPr/>
        </p:nvSpPr>
        <p:spPr>
          <a:xfrm>
            <a:off x="8829675" y="3448050"/>
            <a:ext cx="2695575" cy="142875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1125" y="3571875"/>
            <a:ext cx="23526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80649A"/>
                </a:solidFill>
                <a:latin typeface="Montserrat"/>
              </a:rPr>
              <a:t>04  DECISION +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1125" y="3905249"/>
            <a:ext cx="2352675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8212B"/>
                </a:solidFill>
                <a:latin typeface="Lato"/>
              </a:rPr>
              <a:t>Ranked charter options
SHAP drivers + scenarios
Planner approval + audit trail
Actuals feed retraining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24450"/>
            <a:ext cx="10668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1578D"/>
                </a:solidFill>
                <a:latin typeface="Montserrat"/>
              </a:rPr>
              <a:t>TECH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7375" y="5105400"/>
            <a:ext cx="66198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8212B"/>
                </a:solidFill>
                <a:latin typeface="Montserrat"/>
              </a:rPr>
              <a:t>Python • FastAPI • PyTorch • LightGBM • OR-Tools/Pyomo • PostgreSQL • React • Docker</a:t>
            </a:r>
          </a:p>
        </p:txBody>
      </p:sp>
      <p:sp>
        <p:nvSpPr>
          <p:cNvPr id="28" name="Information panel"/>
          <p:cNvSpPr/>
          <p:nvPr/>
        </p:nvSpPr>
        <p:spPr>
          <a:xfrm>
            <a:off x="8715375" y="5029200"/>
            <a:ext cx="2809875" cy="457200"/>
          </a:xfrm>
          <a:prstGeom prst="rect">
            <a:avLst/>
          </a:prstGeom>
          <a:solidFill>
            <a:srgbClr val="EAF3FA"/>
          </a:solidFill>
          <a:ln w="9525">
            <a:solidFill>
              <a:srgbClr val="8DB9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77300" y="5038725"/>
            <a:ext cx="1333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866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u="none">
                <a:solidFill>
                  <a:srgbClr val="21578D"/>
                </a:solidFill>
                <a:latin typeface="Montserrat"/>
              </a:rPr>
              <a:t>MODEL / GITHUB 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7300" y="5238749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787"/>
              </a:lnSpc>
            </a:pPr>
            <a:r>
              <a:rPr sz="750" b="0" i="0" u="none" dirty="0" smtClean="0">
                <a:solidFill>
                  <a:srgbClr val="536272"/>
                </a:solidFill>
                <a:latin typeface="Lato"/>
              </a:rPr>
              <a:t>Repository</a:t>
            </a:r>
            <a:r>
              <a:rPr lang="en-US" sz="750" b="0" i="0" u="none" dirty="0" smtClean="0">
                <a:solidFill>
                  <a:srgbClr val="536272"/>
                </a:solidFill>
                <a:latin typeface="Lato"/>
              </a:rPr>
              <a:t> :</a:t>
            </a:r>
            <a:r>
              <a:rPr sz="750" b="0" i="0" u="none" dirty="0" smtClean="0">
                <a:solidFill>
                  <a:srgbClr val="536272"/>
                </a:solidFill>
                <a:latin typeface="Lato"/>
              </a:rPr>
              <a:t>: </a:t>
            </a:r>
            <a:r>
              <a:rPr lang="en-US" sz="750" dirty="0">
                <a:solidFill>
                  <a:srgbClr val="536272"/>
                </a:solidFill>
                <a:latin typeface="Lato"/>
              </a:rPr>
              <a:t>https://github.com/nishan1-singh/freight_oracle_v2</a:t>
            </a:r>
            <a:r>
              <a:rPr lang="en-US" sz="750" dirty="0" smtClean="0">
                <a:solidFill>
                  <a:srgbClr val="536272"/>
                </a:solidFill>
                <a:latin typeface="Lato"/>
              </a:rPr>
              <a:t>/</a:t>
            </a:r>
            <a:endParaRPr sz="750" b="0" i="0" u="none" dirty="0">
              <a:solidFill>
                <a:srgbClr val="536272"/>
              </a:solidFill>
              <a:latin typeface="Lat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5562600"/>
            <a:ext cx="523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36272"/>
                </a:solidFill>
                <a:latin typeface="Lato"/>
              </a:rPr>
              <a:t>Visual: Visakhapatnam Port panorama, Wikimedia Commons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43139" y="773720"/>
            <a:ext cx="844061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1078309" y="699280"/>
            <a:ext cx="84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576B74"/>
                </a:solidFill>
                <a:latin typeface="Arial Black" panose="020B0A04020102020204" pitchFamily="34" charset="0"/>
              </a:rPr>
              <a:t>2026</a:t>
            </a:r>
            <a:endParaRPr lang="en-US" b="1" dirty="0">
              <a:solidFill>
                <a:srgbClr val="576B74"/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610936" y="6438899"/>
            <a:ext cx="856664" cy="246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H template slide 4" descr="Official SIH template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am name badge"/>
          <p:cNvSpPr/>
          <p:nvPr/>
        </p:nvSpPr>
        <p:spPr>
          <a:xfrm>
            <a:off x="323850" y="247649"/>
            <a:ext cx="12954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9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150" y="34290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18212B"/>
                </a:solidFill>
                <a:latin typeface="Montserrat"/>
              </a:rPr>
              <a:t>NUL POINTERS</a:t>
            </a:r>
            <a:endParaRPr lang="en-US" sz="1200" b="1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5" name="Title cover"/>
          <p:cNvSpPr/>
          <p:nvPr/>
        </p:nvSpPr>
        <p:spPr>
          <a:xfrm>
            <a:off x="1714500" y="247649"/>
            <a:ext cx="8096249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heading"/>
          <p:cNvSpPr txBox="1"/>
          <p:nvPr/>
        </p:nvSpPr>
        <p:spPr>
          <a:xfrm>
            <a:off x="1952624" y="419100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 u="none">
                <a:solidFill>
                  <a:srgbClr val="18212B"/>
                </a:solidFill>
                <a:latin typeface="Montserrat"/>
              </a:rPr>
              <a:t>FEASIBILITY AND VIABILITY</a:t>
            </a:r>
          </a:p>
        </p:txBody>
      </p:sp>
      <p:sp>
        <p:nvSpPr>
          <p:cNvPr id="7" name="Content surface"/>
          <p:cNvSpPr/>
          <p:nvPr/>
        </p:nvSpPr>
        <p:spPr>
          <a:xfrm>
            <a:off x="76200" y="1762125"/>
            <a:ext cx="12039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85950"/>
            <a:ext cx="3238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1578D"/>
                </a:solidFill>
                <a:latin typeface="Montserrat"/>
              </a:rPr>
              <a:t>36-HOUR BUILD PATH</a:t>
            </a:r>
          </a:p>
        </p:txBody>
      </p:sp>
      <p:cxnSp>
        <p:nvCxnSpPr>
          <p:cNvPr id="9" name="Divider"/>
          <p:cNvCxnSpPr/>
          <p:nvPr/>
        </p:nvCxnSpPr>
        <p:spPr>
          <a:xfrm>
            <a:off x="1047749" y="2724150"/>
            <a:ext cx="10001251" cy="0"/>
          </a:xfrm>
          <a:prstGeom prst="line">
            <a:avLst/>
          </a:prstGeom>
          <a:ln w="38100">
            <a:solidFill>
              <a:srgbClr val="BFD3E4"/>
            </a:solidFill>
          </a:ln>
        </p:spPr>
      </p:cxnSp>
      <p:sp>
        <p:nvSpPr>
          <p:cNvPr id="10" name="0H milestone"/>
          <p:cNvSpPr/>
          <p:nvPr/>
        </p:nvSpPr>
        <p:spPr>
          <a:xfrm>
            <a:off x="819150" y="2495550"/>
            <a:ext cx="457200" cy="457200"/>
          </a:xfrm>
          <a:prstGeom prst="ellipse">
            <a:avLst/>
          </a:prstGeom>
          <a:solidFill>
            <a:srgbClr val="21578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625" y="2581275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FFFFFF"/>
                </a:solidFill>
                <a:latin typeface="Montserrat"/>
              </a:rPr>
              <a:t>0H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300037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1578D"/>
                </a:solidFill>
                <a:latin typeface="Montserrat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" y="320992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272"/>
                </a:solidFill>
                <a:latin typeface="Lato"/>
              </a:rPr>
              <a:t>schema + sample</a:t>
            </a:r>
          </a:p>
        </p:txBody>
      </p:sp>
      <p:sp>
        <p:nvSpPr>
          <p:cNvPr id="14" name="12H milestone"/>
          <p:cNvSpPr/>
          <p:nvPr/>
        </p:nvSpPr>
        <p:spPr>
          <a:xfrm>
            <a:off x="3867150" y="2495550"/>
            <a:ext cx="457200" cy="457200"/>
          </a:xfrm>
          <a:prstGeom prst="ellipse">
            <a:avLst/>
          </a:prstGeom>
          <a:solidFill>
            <a:srgbClr val="21578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57625" y="2581275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FFFFFF"/>
                </a:solidFill>
                <a:latin typeface="Montserrat"/>
              </a:rPr>
              <a:t>12H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3750" y="300037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1578D"/>
                </a:solidFill>
                <a:latin typeface="Montserrat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6125" y="320992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272"/>
                </a:solidFill>
                <a:latin typeface="Lato"/>
              </a:rPr>
              <a:t>forecast API</a:t>
            </a:r>
          </a:p>
        </p:txBody>
      </p:sp>
      <p:sp>
        <p:nvSpPr>
          <p:cNvPr id="18" name="24H milestone"/>
          <p:cNvSpPr/>
          <p:nvPr/>
        </p:nvSpPr>
        <p:spPr>
          <a:xfrm>
            <a:off x="7105650" y="2495550"/>
            <a:ext cx="457200" cy="457200"/>
          </a:xfrm>
          <a:prstGeom prst="ellipse">
            <a:avLst/>
          </a:prstGeom>
          <a:solidFill>
            <a:srgbClr val="21578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96125" y="2581275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FFFFFF"/>
                </a:solidFill>
                <a:latin typeface="Montserrat"/>
              </a:rPr>
              <a:t>24H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0" y="300037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1578D"/>
                </a:solidFill>
                <a:latin typeface="Montserrat"/>
              </a:rPr>
              <a:t>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20992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272"/>
                </a:solidFill>
                <a:latin typeface="Lato"/>
              </a:rPr>
              <a:t>ranked options</a:t>
            </a:r>
          </a:p>
        </p:txBody>
      </p:sp>
      <p:sp>
        <p:nvSpPr>
          <p:cNvPr id="22" name="36H milestone"/>
          <p:cNvSpPr/>
          <p:nvPr/>
        </p:nvSpPr>
        <p:spPr>
          <a:xfrm>
            <a:off x="10820400" y="2495550"/>
            <a:ext cx="457200" cy="457200"/>
          </a:xfrm>
          <a:prstGeom prst="ellipse">
            <a:avLst/>
          </a:prstGeom>
          <a:solidFill>
            <a:srgbClr val="168A57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10875" y="2581275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FFFFFF"/>
                </a:solidFill>
                <a:latin typeface="Montserrat"/>
              </a:rPr>
              <a:t>36H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00037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68A57"/>
                </a:solidFill>
                <a:latin typeface="Montserrat"/>
              </a:rPr>
              <a:t>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9375" y="320992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272"/>
                </a:solidFill>
                <a:latin typeface="Lato"/>
              </a:rPr>
              <a:t>dashboard + 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67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RISK HEATMAP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00" y="38957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536272"/>
                </a:solidFill>
                <a:latin typeface="Montserrat"/>
              </a:rPr>
              <a:t>Impact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29125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536272"/>
                </a:solidFill>
                <a:latin typeface="Montserrat"/>
              </a:rPr>
              <a:t>Likelihood</a:t>
            </a:r>
          </a:p>
        </p:txBody>
      </p:sp>
      <p:sp>
        <p:nvSpPr>
          <p:cNvPr id="29" name="Risk heatmap cell"/>
          <p:cNvSpPr/>
          <p:nvPr/>
        </p:nvSpPr>
        <p:spPr>
          <a:xfrm>
            <a:off x="1428750" y="4143375"/>
            <a:ext cx="1028700" cy="476250"/>
          </a:xfrm>
          <a:prstGeom prst="rect">
            <a:avLst/>
          </a:prstGeom>
          <a:solidFill>
            <a:srgbClr val="E8F1E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sk heatmap cell"/>
          <p:cNvSpPr/>
          <p:nvPr/>
        </p:nvSpPr>
        <p:spPr>
          <a:xfrm>
            <a:off x="2495550" y="4143375"/>
            <a:ext cx="1028700" cy="476250"/>
          </a:xfrm>
          <a:prstGeom prst="rect">
            <a:avLst/>
          </a:prstGeom>
          <a:solidFill>
            <a:srgbClr val="FFF4D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sk heatmap cell"/>
          <p:cNvSpPr/>
          <p:nvPr/>
        </p:nvSpPr>
        <p:spPr>
          <a:xfrm>
            <a:off x="3562350" y="4143375"/>
            <a:ext cx="1028700" cy="476250"/>
          </a:xfrm>
          <a:prstGeom prst="rect">
            <a:avLst/>
          </a:prstGeom>
          <a:solidFill>
            <a:srgbClr val="FCE9E7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sk heatmap cell"/>
          <p:cNvSpPr/>
          <p:nvPr/>
        </p:nvSpPr>
        <p:spPr>
          <a:xfrm>
            <a:off x="1428750" y="4657725"/>
            <a:ext cx="1028700" cy="476250"/>
          </a:xfrm>
          <a:prstGeom prst="rect">
            <a:avLst/>
          </a:prstGeom>
          <a:solidFill>
            <a:srgbClr val="E8F1E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sk heatmap cell"/>
          <p:cNvSpPr/>
          <p:nvPr/>
        </p:nvSpPr>
        <p:spPr>
          <a:xfrm>
            <a:off x="2495550" y="4657725"/>
            <a:ext cx="1028700" cy="476250"/>
          </a:xfrm>
          <a:prstGeom prst="rect">
            <a:avLst/>
          </a:prstGeom>
          <a:solidFill>
            <a:srgbClr val="FFF4D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k heatmap cell"/>
          <p:cNvSpPr/>
          <p:nvPr/>
        </p:nvSpPr>
        <p:spPr>
          <a:xfrm>
            <a:off x="3562350" y="4657725"/>
            <a:ext cx="1028700" cy="476250"/>
          </a:xfrm>
          <a:prstGeom prst="rect">
            <a:avLst/>
          </a:prstGeom>
          <a:solidFill>
            <a:srgbClr val="FCE9E7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sk heatmap cell"/>
          <p:cNvSpPr/>
          <p:nvPr/>
        </p:nvSpPr>
        <p:spPr>
          <a:xfrm>
            <a:off x="1428750" y="5172075"/>
            <a:ext cx="1028700" cy="476250"/>
          </a:xfrm>
          <a:prstGeom prst="rect">
            <a:avLst/>
          </a:prstGeom>
          <a:solidFill>
            <a:srgbClr val="E8F1E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isk heatmap cell"/>
          <p:cNvSpPr/>
          <p:nvPr/>
        </p:nvSpPr>
        <p:spPr>
          <a:xfrm>
            <a:off x="2495550" y="5172075"/>
            <a:ext cx="1028700" cy="476250"/>
          </a:xfrm>
          <a:prstGeom prst="rect">
            <a:avLst/>
          </a:prstGeom>
          <a:solidFill>
            <a:srgbClr val="FFF4D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sk heatmap cell"/>
          <p:cNvSpPr/>
          <p:nvPr/>
        </p:nvSpPr>
        <p:spPr>
          <a:xfrm>
            <a:off x="3562350" y="5172075"/>
            <a:ext cx="1028700" cy="476250"/>
          </a:xfrm>
          <a:prstGeom prst="rect">
            <a:avLst/>
          </a:prstGeom>
          <a:solidFill>
            <a:srgbClr val="FCE9E7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71625" y="56769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866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u="none">
                <a:solidFill>
                  <a:srgbClr val="168A57"/>
                </a:solidFill>
                <a:latin typeface="Montserrat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8425" y="56769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866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u="none">
                <a:solidFill>
                  <a:srgbClr val="E96B22"/>
                </a:solidFill>
                <a:latin typeface="Montserrat"/>
              </a:rPr>
              <a:t>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5224" y="56769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866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u="none">
                <a:solidFill>
                  <a:srgbClr val="C74343"/>
                </a:solidFill>
                <a:latin typeface="Montserrat"/>
              </a:rPr>
              <a:t>HIGH</a:t>
            </a:r>
          </a:p>
        </p:txBody>
      </p:sp>
      <p:sp>
        <p:nvSpPr>
          <p:cNvPr id="41" name="Data risk"/>
          <p:cNvSpPr/>
          <p:nvPr/>
        </p:nvSpPr>
        <p:spPr>
          <a:xfrm>
            <a:off x="2838450" y="4305300"/>
            <a:ext cx="285750" cy="285750"/>
          </a:xfrm>
          <a:prstGeom prst="ellipse">
            <a:avLst/>
          </a:prstGeom>
          <a:solidFill>
            <a:srgbClr val="E96B22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38450" y="4352925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43" name="Volatility risk"/>
          <p:cNvSpPr/>
          <p:nvPr/>
        </p:nvSpPr>
        <p:spPr>
          <a:xfrm>
            <a:off x="3905249" y="4810125"/>
            <a:ext cx="285750" cy="285750"/>
          </a:xfrm>
          <a:prstGeom prst="ellipse">
            <a:avLst/>
          </a:prstGeom>
          <a:solidFill>
            <a:srgbClr val="C7434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05249" y="48577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Montserrat"/>
              </a:rPr>
              <a:t>V</a:t>
            </a:r>
          </a:p>
        </p:txBody>
      </p:sp>
      <p:sp>
        <p:nvSpPr>
          <p:cNvPr id="45" name="Adoption risk"/>
          <p:cNvSpPr/>
          <p:nvPr/>
        </p:nvSpPr>
        <p:spPr>
          <a:xfrm>
            <a:off x="2838450" y="4810125"/>
            <a:ext cx="285750" cy="285750"/>
          </a:xfrm>
          <a:prstGeom prst="ellipse">
            <a:avLst/>
          </a:prstGeom>
          <a:solidFill>
            <a:srgbClr val="80649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38450" y="48577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8750" y="5953125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866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536272"/>
                </a:solidFill>
                <a:latin typeface="Lato"/>
              </a:rPr>
              <a:t>D Data gaps   V Volatility   A Adoption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9250" y="3667125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3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21578D"/>
                </a:solidFill>
                <a:latin typeface="Montserrat"/>
              </a:rPr>
              <a:t>CONTROL PLAN</a:t>
            </a:r>
          </a:p>
        </p:txBody>
      </p:sp>
      <p:sp>
        <p:nvSpPr>
          <p:cNvPr id="49" name="Information panel"/>
          <p:cNvSpPr/>
          <p:nvPr/>
        </p:nvSpPr>
        <p:spPr>
          <a:xfrm>
            <a:off x="5429250" y="4076699"/>
            <a:ext cx="6096000" cy="55245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19750" y="4210050"/>
            <a:ext cx="266700" cy="228600"/>
          </a:xfrm>
          <a:prstGeom prst="rect">
            <a:avLst/>
          </a:prstGeom>
          <a:solidFill>
            <a:srgbClr val="E96B2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8375" y="4152900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8212B"/>
                </a:solidFill>
                <a:latin typeface="Montserrat"/>
              </a:rPr>
              <a:t>Schema validation • imputation • source confidence • fallback baseline</a:t>
            </a:r>
          </a:p>
        </p:txBody>
      </p:sp>
      <p:sp>
        <p:nvSpPr>
          <p:cNvPr id="52" name="Information panel"/>
          <p:cNvSpPr/>
          <p:nvPr/>
        </p:nvSpPr>
        <p:spPr>
          <a:xfrm>
            <a:off x="5429250" y="4752975"/>
            <a:ext cx="6096000" cy="552450"/>
          </a:xfrm>
          <a:prstGeom prst="rect">
            <a:avLst/>
          </a:prstGeom>
          <a:solidFill>
            <a:srgbClr val="FFF7EF"/>
          </a:solidFill>
          <a:ln w="9525">
            <a:solidFill>
              <a:srgbClr val="F2BE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19750" y="4886325"/>
            <a:ext cx="266700" cy="228600"/>
          </a:xfrm>
          <a:prstGeom prst="rect">
            <a:avLst/>
          </a:prstGeom>
          <a:solidFill>
            <a:srgbClr val="C7434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Montserrat"/>
              </a:rPr>
              <a:t>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48375" y="4829175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8212B"/>
                </a:solidFill>
                <a:latin typeface="Montserrat"/>
              </a:rPr>
              <a:t>Quantile forecasts • drift monitor • stress scenarios • frequent retraining</a:t>
            </a:r>
          </a:p>
        </p:txBody>
      </p:sp>
      <p:sp>
        <p:nvSpPr>
          <p:cNvPr id="55" name="Information panel"/>
          <p:cNvSpPr/>
          <p:nvPr/>
        </p:nvSpPr>
        <p:spPr>
          <a:xfrm>
            <a:off x="5429250" y="5429250"/>
            <a:ext cx="6096000" cy="552450"/>
          </a:xfrm>
          <a:prstGeom prst="rect">
            <a:avLst/>
          </a:prstGeom>
          <a:solidFill>
            <a:srgbClr val="EAF3FA"/>
          </a:solidFill>
          <a:ln w="9525">
            <a:solidFill>
              <a:srgbClr val="8DB9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19750" y="5562600"/>
            <a:ext cx="266700" cy="228600"/>
          </a:xfrm>
          <a:prstGeom prst="rect">
            <a:avLst/>
          </a:prstGeom>
          <a:solidFill>
            <a:srgbClr val="80649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48375" y="5505450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18212B"/>
                </a:solidFill>
                <a:latin typeface="Montserrat"/>
              </a:rPr>
              <a:t>SHAP rationale • role access • audit log • planner approval retained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43139" y="773720"/>
            <a:ext cx="844061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1078309" y="705376"/>
            <a:ext cx="84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576B74"/>
                </a:solidFill>
                <a:latin typeface="Arial Black" panose="020B0A04020102020204" pitchFamily="34" charset="0"/>
              </a:rPr>
              <a:t>2026</a:t>
            </a:r>
            <a:endParaRPr lang="en-US" b="1" dirty="0">
              <a:solidFill>
                <a:srgbClr val="576B74"/>
              </a:solidFill>
              <a:latin typeface="Arial Black" panose="020B0A04020102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610936" y="6438899"/>
            <a:ext cx="856664" cy="246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H template slide 5" descr="Official SIH template 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am name badge"/>
          <p:cNvSpPr/>
          <p:nvPr/>
        </p:nvSpPr>
        <p:spPr>
          <a:xfrm>
            <a:off x="323850" y="247649"/>
            <a:ext cx="12954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9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150" y="34290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18212B"/>
                </a:solidFill>
                <a:latin typeface="Montserrat"/>
              </a:rPr>
              <a:t>NUL POINTERS</a:t>
            </a:r>
            <a:endParaRPr lang="en-US" sz="1200" b="1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5" name="Title cover"/>
          <p:cNvSpPr/>
          <p:nvPr/>
        </p:nvSpPr>
        <p:spPr>
          <a:xfrm>
            <a:off x="1714500" y="247649"/>
            <a:ext cx="8096249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heading"/>
          <p:cNvSpPr txBox="1"/>
          <p:nvPr/>
        </p:nvSpPr>
        <p:spPr>
          <a:xfrm>
            <a:off x="1952624" y="419100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 u="none">
                <a:solidFill>
                  <a:srgbClr val="18212B"/>
                </a:solidFill>
                <a:latin typeface="Montserrat"/>
              </a:rPr>
              <a:t>IMPACT AND BENEFITS</a:t>
            </a:r>
          </a:p>
        </p:txBody>
      </p:sp>
      <p:sp>
        <p:nvSpPr>
          <p:cNvPr id="7" name="Content surface"/>
          <p:cNvSpPr/>
          <p:nvPr/>
        </p:nvSpPr>
        <p:spPr>
          <a:xfrm>
            <a:off x="76200" y="1762125"/>
            <a:ext cx="12039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859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1578D"/>
                </a:solidFill>
                <a:latin typeface="Montserrat"/>
              </a:rPr>
              <a:t>PILOT TARGETS — UPPER 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75" y="1885950"/>
            <a:ext cx="58578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536272"/>
                </a:solidFill>
                <a:latin typeface="Lato"/>
              </a:rPr>
              <a:t>Illustrative hypotheses; validate through historical back-tests and a shadow-mode pilot.</a:t>
            </a:r>
          </a:p>
        </p:txBody>
      </p:sp>
      <p:graphicFrame>
        <p:nvGraphicFramePr>
          <p:cNvPr id="10" name="Pilot target bar chart"/>
          <p:cNvGraphicFramePr>
            <a:graphicFrameLocks noGrp="1"/>
          </p:cNvGraphicFramePr>
          <p:nvPr/>
        </p:nvGraphicFramePr>
        <p:xfrm>
          <a:off x="685800" y="2305050"/>
          <a:ext cx="619125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34250" y="2333625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21578D"/>
                </a:solidFill>
                <a:latin typeface="Montserrat"/>
              </a:rPr>
              <a:t>TARGET VALUE HYPOTHESIS</a:t>
            </a:r>
          </a:p>
        </p:txBody>
      </p:sp>
      <p:graphicFrame>
        <p:nvGraphicFramePr>
          <p:cNvPr id="12" name="Illustrative benefit mix pie chart"/>
          <p:cNvGraphicFramePr>
            <a:graphicFrameLocks noGrp="1"/>
          </p:cNvGraphicFramePr>
          <p:nvPr/>
        </p:nvGraphicFramePr>
        <p:xfrm>
          <a:off x="7524749" y="2647950"/>
          <a:ext cx="361950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429500" y="49149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u="none">
                <a:solidFill>
                  <a:srgbClr val="18212B"/>
                </a:solidFill>
                <a:latin typeface="Montserrat"/>
              </a:rPr>
              <a:t>Freight 40%  •  Demurrage 25%  •  Forecast 20%  •  Emissions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0" y="51244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36272"/>
                </a:solidFill>
                <a:latin typeface="Lato"/>
              </a:rPr>
              <a:t>Illustrative share of expected pilot value—not measured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1578D"/>
                </a:solidFill>
                <a:latin typeface="Montserrat"/>
              </a:rPr>
              <a:t>BENEFICIARIES</a:t>
            </a:r>
          </a:p>
        </p:txBody>
      </p:sp>
      <p:sp>
        <p:nvSpPr>
          <p:cNvPr id="16" name="Information panel"/>
          <p:cNvSpPr/>
          <p:nvPr/>
        </p:nvSpPr>
        <p:spPr>
          <a:xfrm>
            <a:off x="2095499" y="5410200"/>
            <a:ext cx="2714625" cy="43815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09800" y="552450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18212B"/>
                </a:solidFill>
                <a:latin typeface="Montserrat"/>
              </a:rPr>
              <a:t>PROCUREMENT + FINANCE</a:t>
            </a:r>
          </a:p>
        </p:txBody>
      </p:sp>
      <p:sp>
        <p:nvSpPr>
          <p:cNvPr id="18" name="Information panel"/>
          <p:cNvSpPr/>
          <p:nvPr/>
        </p:nvSpPr>
        <p:spPr>
          <a:xfrm>
            <a:off x="4953000" y="5410200"/>
            <a:ext cx="2714625" cy="438150"/>
          </a:xfrm>
          <a:prstGeom prst="rect">
            <a:avLst/>
          </a:prstGeom>
          <a:solidFill>
            <a:srgbClr val="EAF3FA"/>
          </a:solidFill>
          <a:ln w="9525">
            <a:solidFill>
              <a:srgbClr val="8DB9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67300" y="552450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18212B"/>
                </a:solidFill>
                <a:latin typeface="Montserrat"/>
              </a:rPr>
              <a:t>CHARTERING + PORT TEAMS</a:t>
            </a:r>
          </a:p>
        </p:txBody>
      </p:sp>
      <p:sp>
        <p:nvSpPr>
          <p:cNvPr id="20" name="Information panel"/>
          <p:cNvSpPr/>
          <p:nvPr/>
        </p:nvSpPr>
        <p:spPr>
          <a:xfrm>
            <a:off x="7810499" y="5410200"/>
            <a:ext cx="3714750" cy="438150"/>
          </a:xfrm>
          <a:prstGeom prst="rect">
            <a:avLst/>
          </a:prstGeom>
          <a:solidFill>
            <a:srgbClr val="F1F8F4"/>
          </a:solidFill>
          <a:ln w="9525">
            <a:solidFill>
              <a:srgbClr val="A8D4B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4799" y="5524500"/>
            <a:ext cx="3486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18212B"/>
                </a:solidFill>
                <a:latin typeface="Montserrat"/>
              </a:rPr>
              <a:t>SUPPLY RESILIENCE + LOWER EMISSIONS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43600"/>
            <a:ext cx="10839450" cy="247649"/>
          </a:xfrm>
          <a:prstGeom prst="rect">
            <a:avLst/>
          </a:prstGeom>
          <a:solidFill>
            <a:srgbClr val="EAF3FA"/>
          </a:solidFill>
          <a:ln w="9525">
            <a:solidFill>
              <a:srgbClr val="BFD3E4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8212B"/>
                </a:solidFill>
                <a:latin typeface="Montserrat"/>
              </a:rPr>
              <a:t>Strategic outcome: proactive, risk-aware freight buying instead of reactive chartering.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43139" y="773720"/>
            <a:ext cx="844061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1074245" y="703344"/>
            <a:ext cx="84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576B74"/>
                </a:solidFill>
                <a:latin typeface="Arial Black" panose="020B0A04020102020204" pitchFamily="34" charset="0"/>
              </a:rPr>
              <a:t>2026</a:t>
            </a:r>
            <a:endParaRPr lang="en-US" b="1" dirty="0">
              <a:solidFill>
                <a:srgbClr val="576B74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10936" y="6438899"/>
            <a:ext cx="856664" cy="246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H template slide 6" descr="Official SIH template 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am name badge"/>
          <p:cNvSpPr/>
          <p:nvPr/>
        </p:nvSpPr>
        <p:spPr>
          <a:xfrm>
            <a:off x="323850" y="247649"/>
            <a:ext cx="1295400" cy="800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9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150" y="342900"/>
            <a:ext cx="1066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18212B"/>
                </a:solidFill>
                <a:latin typeface="Montserrat"/>
              </a:rPr>
              <a:t>NUL POINTERS</a:t>
            </a:r>
            <a:endParaRPr lang="en-US" sz="1200" b="1" dirty="0">
              <a:solidFill>
                <a:srgbClr val="18212B"/>
              </a:solidFill>
              <a:latin typeface="Montserrat"/>
            </a:endParaRPr>
          </a:p>
        </p:txBody>
      </p:sp>
      <p:sp>
        <p:nvSpPr>
          <p:cNvPr id="5" name="Title cover"/>
          <p:cNvSpPr/>
          <p:nvPr/>
        </p:nvSpPr>
        <p:spPr>
          <a:xfrm>
            <a:off x="1714500" y="247649"/>
            <a:ext cx="8096249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heading"/>
          <p:cNvSpPr txBox="1"/>
          <p:nvPr/>
        </p:nvSpPr>
        <p:spPr>
          <a:xfrm>
            <a:off x="1952624" y="419100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 u="none">
                <a:solidFill>
                  <a:srgbClr val="18212B"/>
                </a:solidFill>
                <a:latin typeface="Montserrat"/>
              </a:rPr>
              <a:t>RESEARCH AND REFERENCES</a:t>
            </a:r>
          </a:p>
        </p:txBody>
      </p:sp>
      <p:sp>
        <p:nvSpPr>
          <p:cNvPr id="7" name="Content surface"/>
          <p:cNvSpPr/>
          <p:nvPr/>
        </p:nvSpPr>
        <p:spPr>
          <a:xfrm>
            <a:off x="76200" y="1762125"/>
            <a:ext cx="12039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85950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1578D"/>
                </a:solidFill>
                <a:latin typeface="Montserrat"/>
              </a:rPr>
              <a:t>RESEARCH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1375" y="1885950"/>
            <a:ext cx="81438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Authoritative market, port and weather sources + proven forecasting and optimization methods.</a:t>
            </a:r>
          </a:p>
        </p:txBody>
      </p:sp>
      <p:sp>
        <p:nvSpPr>
          <p:cNvPr id="10" name="Information panel"/>
          <p:cNvSpPr/>
          <p:nvPr/>
        </p:nvSpPr>
        <p:spPr>
          <a:xfrm>
            <a:off x="685800" y="2343150"/>
            <a:ext cx="3905249" cy="3333750"/>
          </a:xfrm>
          <a:prstGeom prst="rect">
            <a:avLst/>
          </a:prstGeom>
          <a:solidFill>
            <a:srgbClr val="F5F9FC"/>
          </a:solidFill>
          <a:ln w="9525">
            <a:solidFill>
              <a:srgbClr val="BFD3E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350" y="2476500"/>
            <a:ext cx="34290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21578D"/>
                </a:solidFill>
                <a:latin typeface="Montserrat"/>
              </a:rPr>
              <a:t>EVALUATION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85750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8212B"/>
                </a:solidFill>
                <a:latin typeface="Montserrat"/>
              </a:rPr>
              <a:t>1  Walk-forward back-testing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1051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Prevents future-data leakage.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42900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8212B"/>
                </a:solidFill>
                <a:latin typeface="Montserrat"/>
              </a:rPr>
              <a:t>2  Practical 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67664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Seasonal naïve • moving average • XGBoost.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00050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8212B"/>
                </a:solidFill>
                <a:latin typeface="Montserrat"/>
              </a:rPr>
              <a:t>3  Decision-quality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2481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MAE / WAPE • pinball loss • cost regret.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457200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8212B"/>
                </a:solidFill>
                <a:latin typeface="Montserrat"/>
              </a:rPr>
              <a:t>4  Shadow-mode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819650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36272"/>
                </a:solidFill>
                <a:latin typeface="Lato"/>
              </a:rPr>
              <a:t>Compare recommendations with actual charter outcomes.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43150"/>
            <a:ext cx="64770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21578D"/>
                </a:solidFill>
                <a:latin typeface="Montserrat"/>
              </a:rPr>
              <a:t>KEY DATA &amp; METHOD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9700" y="268605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18212B"/>
                </a:solidFill>
                <a:latin typeface="Lato"/>
              </a:rPr>
              <a:t>1  UNCTAD — Review of Maritime Transport 2023, Ch. 2
    unctad.org/system/files/official-document/rmt2023ch2_en.pdf</a:t>
            </a:r>
          </a:p>
        </p:txBody>
      </p:sp>
      <p:cxnSp>
        <p:nvCxnSpPr>
          <p:cNvPr id="22" name="Divider"/>
          <p:cNvCxnSpPr/>
          <p:nvPr/>
        </p:nvCxnSpPr>
        <p:spPr>
          <a:xfrm>
            <a:off x="5029200" y="3171825"/>
            <a:ext cx="6477000" cy="0"/>
          </a:xfrm>
          <a:prstGeom prst="line">
            <a:avLst/>
          </a:prstGeom>
          <a:ln w="9525">
            <a:solidFill>
              <a:srgbClr val="BFD3E4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219700" y="3248025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18212B"/>
                </a:solidFill>
                <a:latin typeface="Lato"/>
              </a:rPr>
              <a:t>2  Baltic Exchange — Dry bulk market information &amp; indices
    balticexchange.com/en/data-services/market-information0/dry-services.html</a:t>
            </a:r>
          </a:p>
        </p:txBody>
      </p:sp>
      <p:cxnSp>
        <p:nvCxnSpPr>
          <p:cNvPr id="24" name="Divider"/>
          <p:cNvCxnSpPr/>
          <p:nvPr/>
        </p:nvCxnSpPr>
        <p:spPr>
          <a:xfrm>
            <a:off x="5029200" y="3733799"/>
            <a:ext cx="6477000" cy="0"/>
          </a:xfrm>
          <a:prstGeom prst="line">
            <a:avLst/>
          </a:prstGeom>
          <a:ln w="9525">
            <a:solidFill>
              <a:srgbClr val="BFD3E4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219700" y="381000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18212B"/>
                </a:solidFill>
                <a:latin typeface="Lato"/>
              </a:rPr>
              <a:t>3  Ministry of Ports — Monthly cargo traffic
    shipmin.gov.in/en/transport-reseach/monthly-cargo-traffic-handled-major-ports</a:t>
            </a:r>
          </a:p>
        </p:txBody>
      </p:sp>
      <p:cxnSp>
        <p:nvCxnSpPr>
          <p:cNvPr id="26" name="Divider"/>
          <p:cNvCxnSpPr/>
          <p:nvPr/>
        </p:nvCxnSpPr>
        <p:spPr>
          <a:xfrm>
            <a:off x="5029200" y="4295775"/>
            <a:ext cx="6477000" cy="0"/>
          </a:xfrm>
          <a:prstGeom prst="line">
            <a:avLst/>
          </a:prstGeom>
          <a:ln w="9525">
            <a:solidFill>
              <a:srgbClr val="BFD3E4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219700" y="4371975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18212B"/>
                </a:solidFill>
                <a:latin typeface="Lato"/>
              </a:rPr>
              <a:t>4  World Bank — Commodity Markets “Pink Sheet”
    worldbank.org/en/research/commodity-markets</a:t>
            </a:r>
          </a:p>
        </p:txBody>
      </p:sp>
      <p:cxnSp>
        <p:nvCxnSpPr>
          <p:cNvPr id="28" name="Divider"/>
          <p:cNvCxnSpPr/>
          <p:nvPr/>
        </p:nvCxnSpPr>
        <p:spPr>
          <a:xfrm>
            <a:off x="5029200" y="4857750"/>
            <a:ext cx="6477000" cy="0"/>
          </a:xfrm>
          <a:prstGeom prst="line">
            <a:avLst/>
          </a:prstGeom>
          <a:ln w="9525">
            <a:solidFill>
              <a:srgbClr val="BFD3E4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219700" y="493395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18212B"/>
                </a:solidFill>
                <a:latin typeface="Lato"/>
              </a:rPr>
              <a:t>5  Open-Meteo / DWD — Marine Weather API
    open-meteo.com/en/docs/marine-weather-api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467350"/>
            <a:ext cx="6477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272"/>
                </a:solidFill>
                <a:latin typeface="Lato"/>
              </a:rPr>
              <a:t>METHODS  |  Temporal Fusion Transformers (arXiv:1912.09363) • Google OR-Tools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724525"/>
            <a:ext cx="6477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866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536272"/>
                </a:solidFill>
                <a:latin typeface="Lato"/>
              </a:rPr>
              <a:t>VISUAL CREDITS  |  Paradip Port.jpg and Cargo Ship and breakwaters.jpg — Wikimedia Commons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43139" y="756138"/>
            <a:ext cx="844061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1078309" y="705376"/>
            <a:ext cx="84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576B74"/>
                </a:solidFill>
                <a:latin typeface="Arial Black" panose="020B0A04020102020204" pitchFamily="34" charset="0"/>
              </a:rPr>
              <a:t>2026</a:t>
            </a:r>
            <a:endParaRPr lang="en-US" b="1" dirty="0">
              <a:solidFill>
                <a:srgbClr val="576B74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610936" y="6438899"/>
            <a:ext cx="856664" cy="246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638</Words>
  <Application>Microsoft Office PowerPoint</Application>
  <DocSecurity>0</DocSecurity>
  <PresentationFormat>Widescreen</PresentationFormat>
  <Paragraphs>129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MingLiU_HKSCS-ExtB</vt:lpstr>
      <vt:lpstr>Arial</vt:lpstr>
      <vt:lpstr>Arial Black</vt:lpstr>
      <vt:lpstr>Bookman Old Style</vt:lpstr>
      <vt:lpstr>Calibri</vt:lpstr>
      <vt:lpstr>Lato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CharterCast AI Visual</dc:title>
  <dc:subject/>
  <dc:creator>Notion AI</dc:creator>
  <cp:keywords/>
  <dc:description>generated using python-pptx</dc:description>
  <cp:lastModifiedBy>NISHANT SINGH</cp:lastModifiedBy>
  <cp:revision>4</cp:revision>
  <dcterms:created xsi:type="dcterms:W3CDTF">2026-09-30T12:00:40Z</dcterms:created>
  <dcterms:modified xsi:type="dcterms:W3CDTF">2026-09-30T12:39:14Z</dcterms:modified>
  <cp:category/>
</cp:coreProperties>
</file>